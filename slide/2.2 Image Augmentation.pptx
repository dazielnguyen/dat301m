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7302500" cy="9588500"/>
  <p:embeddedFontLst>
    <p:embeddedFont>
      <p:font typeface="Noto Sans Symbols" pitchFamily="2" charset="0"/>
      <p:regular r:id="rId22"/>
      <p:bold r:id="rId23"/>
    </p:embeddedFont>
    <p:embeddedFont>
      <p:font typeface="Tahoma" panose="020B0604030504040204" pitchFamily="3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J6/kf6Vb/IGi/Rh6LWnjgSJUS0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hi Thu Hong Phan" initials="" lastIdx="1" clrIdx="0"/>
  <p:cmAuthor id="1" name="Hoa Doan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7036"/>
  </p:normalViewPr>
  <p:slideViewPr>
    <p:cSldViewPr snapToGrid="0">
      <p:cViewPr varScale="1">
        <p:scale>
          <a:sx n="161" d="100"/>
          <a:sy n="161" d="100"/>
        </p:scale>
        <p:origin x="129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30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3-12-07T14:46:12.156" idx="1">
    <p:pos x="6000" y="0"/>
    <p:text>Thêm tiêu đề các trục,  bổ sung thêm 1 hình ảnh khi chạy chưa có các phương pháp data augmentation thì model sẽ bị overfit như thế nào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CE_asME"/>
      </p:ext>
    </p:extLst>
  </p:cm>
  <p:cm authorId="1" dt="2023-12-07T14:46:12.156" idx="1">
    <p:pos x="6000" y="0"/>
    <p:text>done</p:text>
    <p:extLst>
      <p:ext uri="{C676402C-5697-4E1C-873F-D02D1690AC5C}">
        <p15:threadingInfo xmlns:p15="http://schemas.microsoft.com/office/powerpoint/2012/main" timeZoneBias="0">
          <p15:parentCm authorId="0" idx="1"/>
        </p15:threadingInfo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A6dBSNU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2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p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4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8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8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5" name="Google Shape;265;p9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0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63247563e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g263247563ef_0_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00" cy="43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63247563ef_0_3:notes"/>
          <p:cNvSpPr txBox="1"/>
          <p:nvPr/>
        </p:nvSpPr>
        <p:spPr>
          <a:xfrm>
            <a:off x="4138612" y="9109075"/>
            <a:ext cx="31638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4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63247563e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800" cy="359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g263247563ef_0_1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00" cy="43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263247563ef_0_14:notes"/>
          <p:cNvSpPr txBox="1"/>
          <p:nvPr/>
        </p:nvSpPr>
        <p:spPr>
          <a:xfrm>
            <a:off x="4138612" y="9109075"/>
            <a:ext cx="31638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20"/>
          <p:cNvSpPr>
            <a:spLocks noGrp="1"/>
          </p:cNvSpPr>
          <p:nvPr>
            <p:ph type="chart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7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17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17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" name="Google Shape;13;p17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17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17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17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17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17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17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17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1" name="Google Shape;21;p17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22;p17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17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17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17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17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17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17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17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0" name="Google Shape;30;p17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1" name="Google Shape;31;p17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2" name="Google Shape;32;p17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17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17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17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17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17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17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17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17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1" name="Google Shape;41;p17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17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17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17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17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17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17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17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17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0" name="Google Shape;50;p17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1" name="Google Shape;51;p17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2" name="Google Shape;52;p17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17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17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17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17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17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17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17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17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1" name="Google Shape;61;p17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2" name="Google Shape;62;p17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7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7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5" name="Google Shape;65;p17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6" name="Google Shape;66;p17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17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17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17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0" name="Google Shape;70;p17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1" name="Google Shape;71;p17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17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17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4" name="Google Shape;74;p17"/>
              <p:cNvSpPr/>
              <p:nvPr/>
            </p:nvSpPr>
            <p:spPr>
              <a:xfrm rot="5400000">
                <a:off x="5096" y="3347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6" name="Google Shape;76;p1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9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88" name="Google Shape;88;p19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89" name="Google Shape;89;p19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cxnSp>
              <p:nvCxnSpPr>
                <p:cNvPr id="90" name="Google Shape;90;p19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9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9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9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9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9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9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9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9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9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9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9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9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9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9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9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9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9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9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9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9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9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" name="Google Shape;112;p19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cxnSp>
              <p:nvCxnSpPr>
                <p:cNvPr id="113" name="Google Shape;113;p19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" name="Google Shape;114;p19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5" name="Google Shape;115;p19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6" name="Google Shape;116;p19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19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8" name="Google Shape;118;p19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9" name="Google Shape;119;p19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0" name="Google Shape;120;p19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1" name="Google Shape;121;p19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2" name="Google Shape;122;p19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3" name="Google Shape;123;p19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4" name="Google Shape;124;p19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5" name="Google Shape;125;p19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6" name="Google Shape;126;p19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7" name="Google Shape;127;p19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19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9" name="Google Shape;129;p19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19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1" name="Google Shape;131;p19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2" name="Google Shape;132;p19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3" name="Google Shape;133;p19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4" name="Google Shape;134;p19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5" name="Google Shape;135;p19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6" name="Google Shape;136;p19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9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9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9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9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9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42" name="Google Shape;142;p19" descr="60%"/>
            <p:cNvSpPr txBox="1"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3" name="Google Shape;143;p19"/>
            <p:cNvCxnSpPr/>
            <p:nvPr/>
          </p:nvCxnSpPr>
          <p:spPr>
            <a:xfrm>
              <a:off x="5568" y="0"/>
              <a:ext cx="0" cy="1488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44" name="Google Shape;144;p19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cxnSp>
            <p:nvCxnSpPr>
              <p:cNvPr id="145" name="Google Shape;145;p19"/>
              <p:cNvCxnSpPr/>
              <p:nvPr/>
            </p:nvCxnSpPr>
            <p:spPr>
              <a:xfrm rot="10800000">
                <a:off x="96" y="1038"/>
                <a:ext cx="22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19"/>
              <p:cNvCxnSpPr/>
              <p:nvPr/>
            </p:nvCxnSpPr>
            <p:spPr>
              <a:xfrm>
                <a:off x="336" y="920"/>
                <a:ext cx="0" cy="28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19"/>
              <p:cNvSpPr/>
              <p:nvPr/>
            </p:nvSpPr>
            <p:spPr>
              <a:xfrm flipH="1">
                <a:off x="218" y="916"/>
                <a:ext cx="238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" name="Google Shape;149;p1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>
            <a:spLocks noGrp="1"/>
          </p:cNvSpPr>
          <p:nvPr>
            <p:ph type="ctrTitle"/>
          </p:nvPr>
        </p:nvSpPr>
        <p:spPr>
          <a:xfrm>
            <a:off x="1066800" y="1752600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Augmentation</a:t>
            </a:r>
            <a:endParaRPr/>
          </a:p>
        </p:txBody>
      </p:sp>
      <p:pic>
        <p:nvPicPr>
          <p:cNvPr id="190" name="Google Shape;1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Objectives</a:t>
            </a:r>
            <a:endParaRPr/>
          </a:p>
        </p:txBody>
      </p:sp>
      <p:sp>
        <p:nvSpPr>
          <p:cNvPr id="196" name="Google Shape;196;p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Recognize the impact of adding image augmentation to the training process, particularly in time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Demonstrate overfitting or lack of by plotting training and validation accuracies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Familiarize with the ImageDataGenerator parameters used for carrying out image augmentation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Learn how to mitigate overfitting by using data augmentation techniques</a:t>
            </a:r>
            <a:endParaRPr/>
          </a:p>
        </p:txBody>
      </p:sp>
      <p:sp>
        <p:nvSpPr>
          <p:cNvPr id="197" name="Google Shape;197;p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pic>
        <p:nvPicPr>
          <p:cNvPr id="198" name="Google Shape;1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Augmentation</a:t>
            </a:r>
            <a:endParaRPr dirty="0"/>
          </a:p>
        </p:txBody>
      </p:sp>
      <p:sp>
        <p:nvSpPr>
          <p:cNvPr id="206" name="Google Shape;206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07" name="Google Shape;207;p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1" i="0" u="none" dirty="0">
                <a:solidFill>
                  <a:srgbClr val="7030A0"/>
                </a:solidFill>
                <a:latin typeface="Tahoma"/>
                <a:ea typeface="Tahoma"/>
                <a:cs typeface="Tahoma"/>
                <a:sym typeface="Tahoma"/>
              </a:rPr>
              <a:t>Augmentation is a technique used in machine learning, particularly in the context of training deep neural networks, to avoid overfitting. </a:t>
            </a:r>
            <a:endParaRPr b="1" dirty="0">
              <a:solidFill>
                <a:srgbClr val="7030A0"/>
              </a:solidFill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Overfitting occurs when a model learns to perform well on the training data but fails to generalize to new, unseen data. </a:t>
            </a:r>
            <a:endParaRPr dirty="0">
              <a:solidFill>
                <a:srgbClr val="0070C0"/>
              </a:solidFill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rgbClr val="00B050"/>
                </a:solidFill>
                <a:latin typeface="Tahoma"/>
                <a:ea typeface="Tahoma"/>
                <a:cs typeface="Tahoma"/>
                <a:sym typeface="Tahoma"/>
              </a:rPr>
              <a:t>Augmentation introduces variations to the training data by applying random transformations, such as rotation, scaling, flipping, or cropping, to create new training examples.</a:t>
            </a:r>
            <a:endParaRPr dirty="0">
              <a:solidFill>
                <a:srgbClr val="00B050"/>
              </a:solidFill>
            </a:endParaRPr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Augmentation</a:t>
            </a:r>
            <a:endParaRPr dirty="0"/>
          </a:p>
        </p:txBody>
      </p:sp>
      <p:sp>
        <p:nvSpPr>
          <p:cNvPr id="216" name="Google Shape;216;p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17" name="Google Shape;217;p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key idea behind data augmentation is to </a:t>
            </a:r>
            <a:r>
              <a:rPr lang="en-US" sz="2000" b="1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increase the diversity of the training set</a:t>
            </a: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without collecting additional labeled examples.. 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example: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image classification tasks, data augmentation might involve randomly rotating, scaling, or flipping images during training. 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natural language processing tasks, text augmentation techniques could include synonym replacement, word shuffling, or introducing small perturbations to the input text..</a:t>
            </a:r>
            <a:endParaRPr dirty="0"/>
          </a:p>
        </p:txBody>
      </p:sp>
      <p:pic>
        <p:nvPicPr>
          <p:cNvPr id="218" name="Google Shape;21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Augmentation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27" name="Google Shape;227;p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 the image</a:t>
            </a:r>
            <a:endParaRPr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❑"/>
            </a:pPr>
            <a:r>
              <a:rPr lang="en-US" sz="1600"/>
              <a:t>→</a:t>
            </a: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discuss the augmentation technologies </a:t>
            </a:r>
            <a:endParaRPr/>
          </a:p>
        </p:txBody>
      </p:sp>
      <p:pic>
        <p:nvPicPr>
          <p:cNvPr id="228" name="Google Shape;2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230" name="Google Shape;23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6212" y="2285301"/>
            <a:ext cx="6327775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Augmentation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38" name="Google Shape;238;p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❑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rotation_range is a value in degrees (0–180) within which to randomly rotate pictures.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❑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width_shift and height_shift are ranges (as a fraction of total width or height) within which to randomly translate pictures vertically or horizontally.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❑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shear_range is for randomly applying shearing transformations.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❑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zoom_range is for randomly zooming inside pictures.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❑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horizontal_flip is for randomly flipping half of the images horizontally.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❑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fill_mode is the strategy used for filling in newly created pixels, which can appear after a rotation or a width/height shift.</a:t>
            </a:r>
            <a:endParaRPr/>
          </a:p>
        </p:txBody>
      </p:sp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 dirty="0"/>
          </a:p>
        </p:txBody>
      </p:sp>
      <p:sp>
        <p:nvSpPr>
          <p:cNvPr id="247" name="Google Shape;247;p7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pic>
        <p:nvPicPr>
          <p:cNvPr id="249" name="Google Shape;24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 txBox="1"/>
          <p:nvPr/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 - avoid overfitting</a:t>
            </a:r>
            <a:endParaRPr dirty="0"/>
          </a:p>
        </p:txBody>
      </p:sp>
      <p:pic>
        <p:nvPicPr>
          <p:cNvPr id="251" name="Google Shape;25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6844" y="1824038"/>
            <a:ext cx="6538912" cy="442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258" name="Google Shape;258;p8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59" name="Google Shape;259;p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0" name="Google Shape;260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262" name="Google Shape;26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1752600"/>
            <a:ext cx="7924800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270" name="Google Shape;270;p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1" name="Google Shape;27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9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273" name="Google Shape;27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1666875"/>
            <a:ext cx="69342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280" name="Google Shape;280;p10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281" name="Google Shape;281;p1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2" name="Google Shape;28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284" name="Google Shape;28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050" y="1741487"/>
            <a:ext cx="7829550" cy="4659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292" name="Google Shape;292;p1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3" name="Google Shape;29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1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295" name="Google Shape;295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687" y="1752600"/>
            <a:ext cx="6677025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302" name="Google Shape;302;p1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03" name="Google Shape;303;p1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4" name="Google Shape;30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306" name="Google Shape;30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1752600"/>
            <a:ext cx="65722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3247563ef_0_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313" name="Google Shape;313;g263247563ef_0_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pic>
        <p:nvPicPr>
          <p:cNvPr id="315" name="Google Shape;315;g263247563ef_0_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263247563ef_0_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317" name="Google Shape;317;g263247563ef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1562100"/>
            <a:ext cx="6610205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324" name="Google Shape;324;p1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325" name="Google Shape;325;p1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6" name="Google Shape;32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328" name="Google Shape;32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1425" y="1816675"/>
            <a:ext cx="6405225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335" name="Google Shape;335;p1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36" name="Google Shape;336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7" name="Google Shape;33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339" name="Google Shape;33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200" y="1752599"/>
            <a:ext cx="7058025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63247563ef_0_1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Create model</a:t>
            </a:r>
            <a:endParaRPr/>
          </a:p>
        </p:txBody>
      </p:sp>
      <p:sp>
        <p:nvSpPr>
          <p:cNvPr id="346" name="Google Shape;346;g263247563ef_0_1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47" name="Google Shape;347;g263247563ef_0_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8" name="Google Shape;348;g263247563ef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263247563ef_0_1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  <p:pic>
        <p:nvPicPr>
          <p:cNvPr id="350" name="Google Shape;350;g263247563ef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325" y="1613725"/>
            <a:ext cx="6772275" cy="469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56" name="Google Shape;356;p1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Recognize the impact of adding image augmentation to the training process, particularly in time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Demonstrate overfitting or lack of by plotting training and validation accuracies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Familiarize with the ImageDataGenerator parameters used for carrying out image augmentation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Learn how to mitigate overfitting by using data augmentation techniques</a:t>
            </a:r>
            <a:endParaRPr/>
          </a:p>
        </p:txBody>
      </p:sp>
      <p:sp>
        <p:nvSpPr>
          <p:cNvPr id="357" name="Google Shape;357;p1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pic>
        <p:nvPicPr>
          <p:cNvPr id="358" name="Google Shape;35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"/>
          <p:cNvSpPr txBox="1">
            <a:spLocks noGrp="1"/>
          </p:cNvSpPr>
          <p:nvPr>
            <p:ph type="title"/>
          </p:nvPr>
        </p:nvSpPr>
        <p:spPr>
          <a:xfrm>
            <a:off x="1143000" y="3124200"/>
            <a:ext cx="670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 &amp; A</a:t>
            </a:r>
            <a:endParaRPr/>
          </a:p>
        </p:txBody>
      </p:sp>
      <p:sp>
        <p:nvSpPr>
          <p:cNvPr id="365" name="Google Shape;365;p16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pic>
        <p:nvPicPr>
          <p:cNvPr id="366" name="Google Shape;3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Augmentation- avoid overfitting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Macintosh PowerPoint</Application>
  <PresentationFormat>On-screen Show (4:3)</PresentationFormat>
  <Paragraphs>97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Tahoma</vt:lpstr>
      <vt:lpstr>Noto Sans Symbols</vt:lpstr>
      <vt:lpstr>1_Blueprint</vt:lpstr>
      <vt:lpstr>Blueprint</vt:lpstr>
      <vt:lpstr>Augmentation</vt:lpstr>
      <vt:lpstr>Objectives</vt:lpstr>
      <vt:lpstr>Data Augmentation</vt:lpstr>
      <vt:lpstr>Data Augmentation</vt:lpstr>
      <vt:lpstr>Data Augmentation</vt:lpstr>
      <vt:lpstr>Data Augmentation</vt:lpstr>
      <vt:lpstr>Create model</vt:lpstr>
      <vt:lpstr>Create model</vt:lpstr>
      <vt:lpstr>Create model</vt:lpstr>
      <vt:lpstr>Create model</vt:lpstr>
      <vt:lpstr>Create model</vt:lpstr>
      <vt:lpstr>Create model</vt:lpstr>
      <vt:lpstr>Create model</vt:lpstr>
      <vt:lpstr>Create model</vt:lpstr>
      <vt:lpstr>Create model</vt:lpstr>
      <vt:lpstr>Create model</vt:lpstr>
      <vt:lpstr>Summary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Hoa Doan</dc:creator>
  <cp:lastModifiedBy>. Daziel.vad</cp:lastModifiedBy>
  <cp:revision>1</cp:revision>
  <dcterms:created xsi:type="dcterms:W3CDTF">2023-11-30T14:02:20Z</dcterms:created>
  <dcterms:modified xsi:type="dcterms:W3CDTF">2026-01-16T02:25:23Z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